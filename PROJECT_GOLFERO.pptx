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3" r:id="rId6"/>
    <p:sldId id="262" r:id="rId7"/>
    <p:sldId id="261" r:id="rId8"/>
    <p:sldId id="264" r:id="rId9"/>
    <p:sldId id="266" r:id="rId10"/>
    <p:sldId id="265" r:id="rId11"/>
    <p:sldId id="267" r:id="rId12"/>
    <p:sldId id="268" r:id="rId13"/>
    <p:sldId id="269" r:id="rId14"/>
    <p:sldId id="270" r:id="rId15"/>
    <p:sldId id="271" r:id="rId16"/>
    <p:sldId id="272" r:id="rId17"/>
    <p:sldId id="2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CC2141-764B-5C73-1C80-07041D5D0718}" v="1055" dt="2025-11-17T18:42:39.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dirty="0"/>
              <a:pPr algn="r"/>
              <a:t>11/17/2025</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80048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115529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dirty="0"/>
              <a:t>Click to edit Master title style</a:t>
            </a:r>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44618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2325182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70198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dirty="0"/>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055412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206183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408944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noChangeAspect="1"/>
          </p:cNvSpPr>
          <p:nvPr>
            <p:ph type="pic" idx="1"/>
          </p:nvPr>
        </p:nvSpPr>
        <p:spPr>
          <a:xfrm>
            <a:off x="0" y="2267712"/>
            <a:ext cx="6571469" cy="4590288"/>
          </a:xfrm>
          <a:solidFill>
            <a:schemeClr val="bg1">
              <a:lumMod val="85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883183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dirty="0"/>
              <a:pPr algn="r"/>
              <a:t>11/17/2025</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503954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dirty="0"/>
              <a:t>Click to edit Master title style</a:t>
            </a:r>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dirty="0"/>
              <a:pPr algn="r"/>
              <a:t>11/17/2025</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3666969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dirty="0"/>
              <a:pPr algn="r"/>
              <a:t>11/17/2025</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dirty="0"/>
              <a:pPr algn="l"/>
              <a:t>‹#›</a:t>
            </a:fld>
            <a:endParaRPr lang="en-US" dirty="0"/>
          </a:p>
        </p:txBody>
      </p:sp>
    </p:spTree>
    <p:extLst>
      <p:ext uri="{BB962C8B-B14F-4D97-AF65-F5344CB8AC3E}">
        <p14:creationId xmlns:p14="http://schemas.microsoft.com/office/powerpoint/2010/main" val="12954616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90662" y="4267832"/>
            <a:ext cx="4805996" cy="1297115"/>
          </a:xfrm>
        </p:spPr>
        <p:txBody>
          <a:bodyPr anchor="t">
            <a:normAutofit/>
          </a:bodyPr>
          <a:lstStyle/>
          <a:p>
            <a:pPr algn="l"/>
            <a:r>
              <a:rPr lang="en-US" sz="4000" dirty="0">
                <a:solidFill>
                  <a:schemeClr val="bg1"/>
                </a:solidFill>
              </a:rPr>
              <a:t>PROJECT GOLFERO</a:t>
            </a:r>
          </a:p>
        </p:txBody>
      </p:sp>
      <p:sp>
        <p:nvSpPr>
          <p:cNvPr id="3" name="Subtitle 2"/>
          <p:cNvSpPr>
            <a:spLocks noGrp="1"/>
          </p:cNvSpPr>
          <p:nvPr>
            <p:ph type="subTitle" idx="1"/>
          </p:nvPr>
        </p:nvSpPr>
        <p:spPr>
          <a:xfrm>
            <a:off x="6590966" y="3428999"/>
            <a:ext cx="4805691" cy="838831"/>
          </a:xfrm>
        </p:spPr>
        <p:txBody>
          <a:bodyPr vert="horz" lIns="91440" tIns="45720" rIns="91440" bIns="45720" rtlCol="0" anchor="b">
            <a:normAutofit/>
          </a:bodyPr>
          <a:lstStyle/>
          <a:p>
            <a:pPr algn="l"/>
            <a:r>
              <a:rPr lang="en-US" sz="1100">
                <a:solidFill>
                  <a:schemeClr val="tx2"/>
                </a:solidFill>
              </a:rPr>
              <a:t>C. SHASHANK – BL.SC.U4AIE24011</a:t>
            </a:r>
          </a:p>
          <a:p>
            <a:pPr algn="l"/>
            <a:r>
              <a:rPr lang="en-US" sz="1100">
                <a:solidFill>
                  <a:schemeClr val="tx2"/>
                </a:solidFill>
              </a:rPr>
              <a:t>C. DHANUSH – BL.SC.U4AIE24010</a:t>
            </a:r>
          </a:p>
          <a:p>
            <a:pPr algn="l"/>
            <a:r>
              <a:rPr lang="en-US" sz="1100">
                <a:solidFill>
                  <a:schemeClr val="tx2"/>
                </a:solidFill>
              </a:rPr>
              <a:t>D. YUVA AKHIL – BL.SC.U4AIE24013</a:t>
            </a:r>
          </a:p>
        </p:txBody>
      </p:sp>
      <p:pic>
        <p:nvPicPr>
          <p:cNvPr id="7" name="Graphic 6" descr="Checkmark">
            <a:extLst>
              <a:ext uri="{FF2B5EF4-FFF2-40B4-BE49-F238E27FC236}">
                <a16:creationId xmlns:a16="http://schemas.microsoft.com/office/drawing/2014/main" id="{DBDAF72D-13C2-70B7-2C96-4BC83593EC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pic>
        <p:nvPicPr>
          <p:cNvPr id="5" name="Picture 4" descr="Amrita Vishwa Vidyapeetham Logo PNG Vector">
            <a:extLst>
              <a:ext uri="{FF2B5EF4-FFF2-40B4-BE49-F238E27FC236}">
                <a16:creationId xmlns:a16="http://schemas.microsoft.com/office/drawing/2014/main" id="{4E00EBF3-6FB3-7C52-616C-5E0BDD5A4AF6}"/>
              </a:ext>
            </a:extLst>
          </p:cNvPr>
          <p:cNvPicPr>
            <a:picLocks noChangeAspect="1"/>
          </p:cNvPicPr>
          <p:nvPr/>
        </p:nvPicPr>
        <p:blipFill>
          <a:blip r:embed="rId4"/>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CFFF-2920-0069-F413-07B0464715B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A60CD78-2F25-4153-0983-EFBEF3A7E78D}"/>
              </a:ext>
            </a:extLst>
          </p:cNvPr>
          <p:cNvSpPr>
            <a:spLocks noGrp="1"/>
          </p:cNvSpPr>
          <p:nvPr>
            <p:ph idx="1"/>
          </p:nvPr>
        </p:nvSpPr>
        <p:spPr/>
        <p:txBody>
          <a:bodyPr vert="horz" lIns="91440" tIns="45720" rIns="91440" bIns="45720" rtlCol="0" anchor="t">
            <a:normAutofit/>
          </a:bodyPr>
          <a:lstStyle/>
          <a:p>
            <a:pPr marL="0" indent="0">
              <a:buNone/>
            </a:pPr>
            <a:r>
              <a:rPr lang="en-US" dirty="0"/>
              <a:t>GOLF IS A VERY INTERESTING GAME, OUR TEAM LOOKED AT IT AND THOUGHT WOAH WE CAN MODEL GOLF IN SUCH A WAY THAT IT CAN BE SOLVED WITH PLANNING AND LOW LEVEL GRID SEARCH </a:t>
            </a:r>
          </a:p>
          <a:p>
            <a:pPr marL="0" indent="0">
              <a:buNone/>
            </a:pPr>
            <a:endParaRPr lang="en-US" dirty="0"/>
          </a:p>
          <a:p>
            <a:pPr marL="0" indent="0">
              <a:buNone/>
            </a:pPr>
            <a:r>
              <a:rPr lang="en-US" dirty="0"/>
              <a:t>PROJECT GOLFERO IS A BEAUTIFUL TAKE ON THIS WE HAVE MODELED INTRICATE  PHYSICS </a:t>
            </a:r>
            <a:br>
              <a:rPr lang="en-US" dirty="0"/>
            </a:br>
            <a:br>
              <a:rPr lang="en-US" dirty="0"/>
            </a:br>
            <a:endParaRPr lang="en-US" dirty="0"/>
          </a:p>
          <a:p>
            <a:pPr marL="0" indent="0">
              <a:buNone/>
            </a:pPr>
            <a:endParaRPr lang="en-US" dirty="0"/>
          </a:p>
        </p:txBody>
      </p:sp>
      <p:pic>
        <p:nvPicPr>
          <p:cNvPr id="5" name="Picture 4" descr="Amrita Vishwa Vidyapeetham Logo PNG Vector">
            <a:extLst>
              <a:ext uri="{FF2B5EF4-FFF2-40B4-BE49-F238E27FC236}">
                <a16:creationId xmlns:a16="http://schemas.microsoft.com/office/drawing/2014/main" id="{FB4F66D9-B0D1-39C8-07C2-0A2489A82A2B}"/>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4229150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6F306-31BB-1FFB-F825-44E3D9D8D1BC}"/>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112A9C72-C3B9-CEAF-AF76-0023F0E240E8}"/>
              </a:ext>
            </a:extLst>
          </p:cNvPr>
          <p:cNvSpPr>
            <a:spLocks noGrp="1"/>
          </p:cNvSpPr>
          <p:nvPr>
            <p:ph idx="1"/>
          </p:nvPr>
        </p:nvSpPr>
        <p:spPr/>
        <p:txBody>
          <a:bodyPr vert="horz" lIns="91440" tIns="45720" rIns="91440" bIns="45720" rtlCol="0" anchor="t">
            <a:normAutofit/>
          </a:bodyPr>
          <a:lstStyle/>
          <a:p>
            <a:pPr marL="0" indent="0">
              <a:buNone/>
            </a:pPr>
            <a:r>
              <a:rPr lang="en-US" dirty="0"/>
              <a:t>Our team has been inspired by the game of golf, we have seen many golf games but very few tried to do what we did this is the major gap that we noticed in the golf video game market </a:t>
            </a:r>
          </a:p>
          <a:p>
            <a:pPr marL="0" indent="0">
              <a:buNone/>
            </a:pPr>
            <a:endParaRPr lang="en-US" dirty="0"/>
          </a:p>
          <a:p>
            <a:pPr marL="0" indent="0">
              <a:buNone/>
            </a:pPr>
            <a:r>
              <a:rPr lang="en-US" dirty="0"/>
              <a:t>Yes, maybe this version of our game is not a complete version we don't have proper sounds and animations but that is the v2.0 </a:t>
            </a:r>
          </a:p>
        </p:txBody>
      </p:sp>
      <p:pic>
        <p:nvPicPr>
          <p:cNvPr id="5" name="Picture 4" descr="Amrita Vishwa Vidyapeetham Logo PNG Vector">
            <a:extLst>
              <a:ext uri="{FF2B5EF4-FFF2-40B4-BE49-F238E27FC236}">
                <a16:creationId xmlns:a16="http://schemas.microsoft.com/office/drawing/2014/main" id="{94B704CE-0A3F-A609-B758-BF07DE47B654}"/>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3798456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D2F62-EAC0-C0AD-A148-46A7BC0C3F9E}"/>
              </a:ext>
            </a:extLst>
          </p:cNvPr>
          <p:cNvSpPr>
            <a:spLocks noGrp="1"/>
          </p:cNvSpPr>
          <p:nvPr>
            <p:ph type="title"/>
          </p:nvPr>
        </p:nvSpPr>
        <p:spPr/>
        <p:txBody>
          <a:bodyPr/>
          <a:lstStyle/>
          <a:p>
            <a:r>
              <a:rPr lang="en-US" dirty="0"/>
              <a:t>LITERATURE SERVEY (PHYSICS)</a:t>
            </a:r>
          </a:p>
        </p:txBody>
      </p:sp>
      <p:sp>
        <p:nvSpPr>
          <p:cNvPr id="3" name="Content Placeholder 2">
            <a:extLst>
              <a:ext uri="{FF2B5EF4-FFF2-40B4-BE49-F238E27FC236}">
                <a16:creationId xmlns:a16="http://schemas.microsoft.com/office/drawing/2014/main" id="{0576E767-F2E6-1516-92C8-D32EAF0F6242}"/>
              </a:ext>
            </a:extLst>
          </p:cNvPr>
          <p:cNvSpPr>
            <a:spLocks noGrp="1"/>
          </p:cNvSpPr>
          <p:nvPr>
            <p:ph idx="1"/>
          </p:nvPr>
        </p:nvSpPr>
        <p:spPr/>
        <p:txBody>
          <a:bodyPr vert="horz" lIns="91440" tIns="45720" rIns="91440" bIns="45720" rtlCol="0" anchor="t">
            <a:normAutofit/>
          </a:bodyPr>
          <a:lstStyle/>
          <a:p>
            <a:r>
              <a:rPr lang="en-US" dirty="0" err="1">
                <a:ea typeface="+mn-lt"/>
                <a:cs typeface="+mn-lt"/>
              </a:rPr>
              <a:t>Baraff</a:t>
            </a:r>
            <a:r>
              <a:rPr lang="en-US" dirty="0">
                <a:ea typeface="+mn-lt"/>
                <a:cs typeface="+mn-lt"/>
              </a:rPr>
              <a:t> &amp; Witkin (1997) basically laid down how game physics should behave, so we kind of followed the same vibe for our simulation logic.</a:t>
            </a:r>
            <a:endParaRPr lang="en-US" dirty="0"/>
          </a:p>
          <a:p>
            <a:r>
              <a:rPr lang="en-US" dirty="0">
                <a:ea typeface="+mn-lt"/>
                <a:cs typeface="+mn-lt"/>
              </a:rPr>
              <a:t>Mehta (1985) explains how balls behave in air, especially drag and lift, which helped us justify using Magnus effect and drag coefficients.</a:t>
            </a:r>
            <a:endParaRPr lang="en-US"/>
          </a:p>
          <a:p>
            <a:r>
              <a:rPr lang="en-US" dirty="0">
                <a:ea typeface="+mn-lt"/>
                <a:cs typeface="+mn-lt"/>
              </a:rPr>
              <a:t>Cross (2011) goes deep into sports ball interaction with surfaces, so we used similar reasoning for different terrain behaviors.</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D904752D-A19F-E540-165E-3CBD0C63803F}"/>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2860942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049DF-6924-E0FC-A07A-F3B76B00C026}"/>
              </a:ext>
            </a:extLst>
          </p:cNvPr>
          <p:cNvSpPr>
            <a:spLocks noGrp="1"/>
          </p:cNvSpPr>
          <p:nvPr>
            <p:ph type="title"/>
          </p:nvPr>
        </p:nvSpPr>
        <p:spPr/>
        <p:txBody>
          <a:bodyPr/>
          <a:lstStyle/>
          <a:p>
            <a:r>
              <a:rPr lang="en-US" dirty="0"/>
              <a:t>LITERATURE SURVEY (AI &amp; OPTIMIZATION)</a:t>
            </a:r>
          </a:p>
        </p:txBody>
      </p:sp>
      <p:sp>
        <p:nvSpPr>
          <p:cNvPr id="3" name="Content Placeholder 2">
            <a:extLst>
              <a:ext uri="{FF2B5EF4-FFF2-40B4-BE49-F238E27FC236}">
                <a16:creationId xmlns:a16="http://schemas.microsoft.com/office/drawing/2014/main" id="{5EFD21BA-88BC-5156-AADC-1FC5E858FBE0}"/>
              </a:ext>
            </a:extLst>
          </p:cNvPr>
          <p:cNvSpPr>
            <a:spLocks noGrp="1"/>
          </p:cNvSpPr>
          <p:nvPr>
            <p:ph idx="1"/>
          </p:nvPr>
        </p:nvSpPr>
        <p:spPr/>
        <p:txBody>
          <a:bodyPr vert="horz" lIns="91440" tIns="45720" rIns="91440" bIns="45720" rtlCol="0" anchor="t">
            <a:normAutofit/>
          </a:bodyPr>
          <a:lstStyle/>
          <a:p>
            <a:r>
              <a:rPr lang="en-US" dirty="0">
                <a:ea typeface="+mn-lt"/>
                <a:cs typeface="+mn-lt"/>
              </a:rPr>
              <a:t>Hansen &amp; Ostermeier (2001) present the CMA-ES optimization method; our low-level optimizer is inspired by their evolutionary approach.</a:t>
            </a:r>
            <a:endParaRPr lang="en-US" dirty="0"/>
          </a:p>
          <a:p>
            <a:r>
              <a:rPr lang="en-US" dirty="0">
                <a:ea typeface="+mn-lt"/>
                <a:cs typeface="+mn-lt"/>
              </a:rPr>
              <a:t>Russell &amp; Norvig (2009) shows how decision-making in AI systems generally works, which matches the high-level planner we wrote.</a:t>
            </a:r>
            <a:endParaRPr lang="en-US" dirty="0"/>
          </a:p>
          <a:p>
            <a:r>
              <a:rPr lang="en-US" dirty="0">
                <a:ea typeface="+mn-lt"/>
                <a:cs typeface="+mn-lt"/>
              </a:rPr>
              <a:t>Sutton &amp; Barto (2018) use reinforcement thinking for continuous decision loops; good foundation for our iterative AI shot decisions.</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01E5812B-9EC5-C91F-2ED3-675F6C06FFB7}"/>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244517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1B0FC-A74D-DB04-E891-B17F2DDAC1E3}"/>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4E403848-34B1-B1B0-4539-1195137D8EBD}"/>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So basically our problem was that normal golf simulators or physics demos are either too heavy, too unrealistic, or just boring. We wanted something that actually shows real-</a:t>
            </a:r>
            <a:r>
              <a:rPr lang="en-US" dirty="0" err="1">
                <a:ea typeface="+mn-lt"/>
                <a:cs typeface="+mn-lt"/>
              </a:rPr>
              <a:t>ish</a:t>
            </a:r>
            <a:r>
              <a:rPr lang="en-US" dirty="0">
                <a:ea typeface="+mn-lt"/>
                <a:cs typeface="+mn-lt"/>
              </a:rPr>
              <a:t> ball physics but still runs on normal systems without needing Unity or Unreal or whatever. No one shows how the AI actually </a:t>
            </a:r>
            <a:r>
              <a:rPr lang="en-US" i="1" dirty="0">
                <a:ea typeface="+mn-lt"/>
                <a:cs typeface="+mn-lt"/>
              </a:rPr>
              <a:t>thinks</a:t>
            </a:r>
            <a:r>
              <a:rPr lang="en-US" dirty="0">
                <a:ea typeface="+mn-lt"/>
                <a:cs typeface="+mn-lt"/>
              </a:rPr>
              <a:t> when choosing a golf shot. So our idea was to build a lightweight 2D/3D-ish golf game where the ball behaves properly on different terrains, with wind, drag, spin, all that stuff, and then make an AI that can look at the map and plan a shot like a real player. The problem was: can we simulate all that in pure C and also get the AI to talk to the game smoothly? That’s basically what we tried to solve.</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FEC9FB67-E298-C285-18A4-5F72A14ED78A}"/>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97000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7F894-128C-159F-C334-4A1705D9F091}"/>
              </a:ext>
            </a:extLst>
          </p:cNvPr>
          <p:cNvSpPr>
            <a:spLocks noGrp="1"/>
          </p:cNvSpPr>
          <p:nvPr>
            <p:ph type="title"/>
          </p:nvPr>
        </p:nvSpPr>
        <p:spPr/>
        <p:txBody>
          <a:bodyPr/>
          <a:lstStyle/>
          <a:p>
            <a:r>
              <a:rPr lang="en-US" dirty="0"/>
              <a:t>NOVELTY</a:t>
            </a:r>
          </a:p>
        </p:txBody>
      </p:sp>
      <p:sp>
        <p:nvSpPr>
          <p:cNvPr id="3" name="Content Placeholder 2">
            <a:extLst>
              <a:ext uri="{FF2B5EF4-FFF2-40B4-BE49-F238E27FC236}">
                <a16:creationId xmlns:a16="http://schemas.microsoft.com/office/drawing/2014/main" id="{BC4D739D-D88F-9187-42C0-85CD9E277A81}"/>
              </a:ext>
            </a:extLst>
          </p:cNvPr>
          <p:cNvSpPr>
            <a:spLocks noGrp="1"/>
          </p:cNvSpPr>
          <p:nvPr>
            <p:ph idx="1"/>
          </p:nvPr>
        </p:nvSpPr>
        <p:spPr/>
        <p:txBody>
          <a:bodyPr vert="horz" lIns="91440" tIns="45720" rIns="91440" bIns="45720" rtlCol="0" anchor="t">
            <a:normAutofit/>
          </a:bodyPr>
          <a:lstStyle/>
          <a:p>
            <a:r>
              <a:rPr lang="en-US" dirty="0">
                <a:ea typeface="+mn-lt"/>
                <a:cs typeface="+mn-lt"/>
              </a:rPr>
              <a:t>We built the whole golf physics from scratch in plain C, so nothing is copied from Unity/Unreal or preset engines.</a:t>
            </a:r>
            <a:endParaRPr lang="en-US" dirty="0"/>
          </a:p>
          <a:p>
            <a:r>
              <a:rPr lang="en-US" dirty="0">
                <a:ea typeface="+mn-lt"/>
                <a:cs typeface="+mn-lt"/>
              </a:rPr>
              <a:t>Our AI gets the real game state and plans shots using both a high-level strategy and a low-level optimizer, which is not common in small student projects.</a:t>
            </a:r>
            <a:endParaRPr lang="en-US" dirty="0"/>
          </a:p>
          <a:p>
            <a:r>
              <a:rPr lang="en-US" dirty="0">
                <a:ea typeface="+mn-lt"/>
                <a:cs typeface="+mn-lt"/>
              </a:rPr>
              <a:t>We use FIFO pipes for </a:t>
            </a:r>
            <a:r>
              <a:rPr lang="en-US" dirty="0" err="1">
                <a:ea typeface="+mn-lt"/>
                <a:cs typeface="+mn-lt"/>
              </a:rPr>
              <a:t>linux</a:t>
            </a:r>
            <a:r>
              <a:rPr lang="en-US" dirty="0">
                <a:ea typeface="+mn-lt"/>
                <a:cs typeface="+mn-lt"/>
              </a:rPr>
              <a:t> we have a work in progress socket version for windows but that has been bad to be honest</a:t>
            </a:r>
            <a:endParaRPr lang="en-US" dirty="0"/>
          </a:p>
          <a:p>
            <a:r>
              <a:rPr lang="en-US" dirty="0">
                <a:ea typeface="+mn-lt"/>
                <a:cs typeface="+mn-lt"/>
              </a:rPr>
              <a:t>Terrain and obstacles are read directly from the map image, so both physics and AI react to the environment pixel-by-pixel instead of using tiles.</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195094E9-0635-016A-DC60-8705832D6B6E}"/>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320804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FAA81-DB8D-9721-6F18-56C401E0324A}"/>
              </a:ext>
            </a:extLst>
          </p:cNvPr>
          <p:cNvSpPr>
            <a:spLocks noGrp="1"/>
          </p:cNvSpPr>
          <p:nvPr>
            <p:ph type="title"/>
          </p:nvPr>
        </p:nvSpPr>
        <p:spPr/>
        <p:txBody>
          <a:bodyPr/>
          <a:lstStyle/>
          <a:p>
            <a:r>
              <a:rPr lang="en-US" dirty="0"/>
              <a:t>CO MAPPING</a:t>
            </a:r>
          </a:p>
        </p:txBody>
      </p:sp>
      <p:sp>
        <p:nvSpPr>
          <p:cNvPr id="3" name="Content Placeholder 2">
            <a:extLst>
              <a:ext uri="{FF2B5EF4-FFF2-40B4-BE49-F238E27FC236}">
                <a16:creationId xmlns:a16="http://schemas.microsoft.com/office/drawing/2014/main" id="{6F1679D8-DC13-A07B-068C-CC7607CA851E}"/>
              </a:ext>
            </a:extLst>
          </p:cNvPr>
          <p:cNvSpPr>
            <a:spLocks noGrp="1"/>
          </p:cNvSpPr>
          <p:nvPr>
            <p:ph idx="1"/>
          </p:nvPr>
        </p:nvSpPr>
        <p:spPr/>
        <p:txBody>
          <a:bodyPr vert="horz" lIns="91440" tIns="45720" rIns="91440" bIns="45720" rtlCol="0" anchor="t">
            <a:normAutofit/>
          </a:bodyPr>
          <a:lstStyle/>
          <a:p>
            <a:r>
              <a:rPr lang="en-US" b="1" dirty="0"/>
              <a:t>CO1 – Analyze intelligent agent components</a:t>
            </a:r>
            <a:endParaRPr lang="en-US" dirty="0"/>
          </a:p>
          <a:p>
            <a:pPr marL="0" indent="0">
              <a:buNone/>
            </a:pPr>
            <a:r>
              <a:rPr lang="en-US" dirty="0">
                <a:ea typeface="+mn-lt"/>
                <a:cs typeface="+mn-lt"/>
              </a:rPr>
              <a:t>  We broke down the AI golfer into sensing (state input), reasoning (planner), and acting (shot    execution).</a:t>
            </a:r>
            <a:br>
              <a:rPr lang="en-US" dirty="0">
                <a:ea typeface="+mn-lt"/>
                <a:cs typeface="+mn-lt"/>
              </a:rPr>
            </a:br>
            <a:r>
              <a:rPr lang="en-US" dirty="0">
                <a:ea typeface="+mn-lt"/>
                <a:cs typeface="+mn-lt"/>
              </a:rPr>
              <a:t>    Also </a:t>
            </a:r>
            <a:r>
              <a:rPr lang="en-US" dirty="0" err="1">
                <a:ea typeface="+mn-lt"/>
                <a:cs typeface="+mn-lt"/>
              </a:rPr>
              <a:t>analysed</a:t>
            </a:r>
            <a:r>
              <a:rPr lang="en-US" dirty="0">
                <a:ea typeface="+mn-lt"/>
                <a:cs typeface="+mn-lt"/>
              </a:rPr>
              <a:t> physics, terrain, and environment variables before designing the system.</a:t>
            </a:r>
            <a:endParaRPr lang="en-US" dirty="0"/>
          </a:p>
          <a:p>
            <a:r>
              <a:rPr lang="en-US" b="1" dirty="0"/>
              <a:t>CO2 – Apply search and decision-making techniques</a:t>
            </a:r>
            <a:endParaRPr lang="en-US" dirty="0"/>
          </a:p>
          <a:p>
            <a:pPr marL="0" indent="0">
              <a:buNone/>
            </a:pPr>
            <a:r>
              <a:rPr lang="en-US" dirty="0">
                <a:ea typeface="+mn-lt"/>
                <a:cs typeface="+mn-lt"/>
              </a:rPr>
              <a:t> AI uses heuristic-based target selection and optimized shot parameters.</a:t>
            </a:r>
            <a:br>
              <a:rPr lang="en-US" dirty="0">
                <a:ea typeface="+mn-lt"/>
                <a:cs typeface="+mn-lt"/>
              </a:rPr>
            </a:br>
            <a:r>
              <a:rPr lang="en-US" dirty="0">
                <a:ea typeface="+mn-lt"/>
                <a:cs typeface="+mn-lt"/>
              </a:rPr>
              <a:t>  Path-checking and obstacle avoidance directly use informed decision techniques.</a:t>
            </a:r>
            <a:endParaRPr lang="en-US" dirty="0"/>
          </a:p>
          <a:p>
            <a:pPr marL="0" indent="0">
              <a:buNone/>
            </a:pPr>
            <a:endParaRPr lang="en-US" dirty="0"/>
          </a:p>
        </p:txBody>
      </p:sp>
      <p:pic>
        <p:nvPicPr>
          <p:cNvPr id="5" name="Picture 4" descr="Amrita Vishwa Vidyapeetham Logo PNG Vector">
            <a:extLst>
              <a:ext uri="{FF2B5EF4-FFF2-40B4-BE49-F238E27FC236}">
                <a16:creationId xmlns:a16="http://schemas.microsoft.com/office/drawing/2014/main" id="{EE1AE493-B555-7881-832F-B3D1FABCC360}"/>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1961136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32A12-C246-C0A7-DDAB-35940CB03DBE}"/>
              </a:ext>
            </a:extLst>
          </p:cNvPr>
          <p:cNvSpPr>
            <a:spLocks noGrp="1"/>
          </p:cNvSpPr>
          <p:nvPr>
            <p:ph type="title"/>
          </p:nvPr>
        </p:nvSpPr>
        <p:spPr/>
        <p:txBody>
          <a:bodyPr/>
          <a:lstStyle/>
          <a:p>
            <a:r>
              <a:rPr lang="en-US" dirty="0"/>
              <a:t>CO MAPPING</a:t>
            </a:r>
          </a:p>
        </p:txBody>
      </p:sp>
      <p:sp>
        <p:nvSpPr>
          <p:cNvPr id="3" name="Content Placeholder 2">
            <a:extLst>
              <a:ext uri="{FF2B5EF4-FFF2-40B4-BE49-F238E27FC236}">
                <a16:creationId xmlns:a16="http://schemas.microsoft.com/office/drawing/2014/main" id="{415DC5D8-C7EB-0FC2-F6C5-62D6F393A9D7}"/>
              </a:ext>
            </a:extLst>
          </p:cNvPr>
          <p:cNvSpPr>
            <a:spLocks noGrp="1"/>
          </p:cNvSpPr>
          <p:nvPr>
            <p:ph idx="1"/>
          </p:nvPr>
        </p:nvSpPr>
        <p:spPr/>
        <p:txBody>
          <a:bodyPr vert="horz" lIns="91440" tIns="45720" rIns="91440" bIns="45720" rtlCol="0" anchor="t">
            <a:normAutofit/>
          </a:bodyPr>
          <a:lstStyle/>
          <a:p>
            <a:r>
              <a:rPr lang="en-US" b="1" dirty="0"/>
              <a:t>CO3 – Use knowledge representation and constraints</a:t>
            </a:r>
            <a:endParaRPr lang="en-US" dirty="0"/>
          </a:p>
          <a:p>
            <a:pPr marL="0" indent="0">
              <a:buNone/>
            </a:pPr>
            <a:r>
              <a:rPr lang="en-US" dirty="0"/>
              <a:t>  Terrain types, hazards, and sand rules behave like constraints the AI must respect.</a:t>
            </a:r>
            <a:br>
              <a:rPr lang="en-US" dirty="0"/>
            </a:br>
            <a:r>
              <a:rPr lang="en-US" dirty="0"/>
              <a:t> AI’s shot selection incorporates rule-based reasoning (avoid hazards, reduce risk, etc.)</a:t>
            </a:r>
          </a:p>
          <a:p>
            <a:r>
              <a:rPr lang="en-US" b="1" dirty="0"/>
              <a:t>CO4 – Implement planning and agent </a:t>
            </a:r>
            <a:r>
              <a:rPr lang="en-US" b="1" err="1"/>
              <a:t>behaviour</a:t>
            </a:r>
            <a:r>
              <a:rPr lang="en-US" b="1" dirty="0"/>
              <a:t> in a real system</a:t>
            </a:r>
            <a:endParaRPr lang="en-US" dirty="0"/>
          </a:p>
          <a:p>
            <a:pPr marL="0" indent="0">
              <a:buNone/>
            </a:pPr>
            <a:r>
              <a:rPr lang="en-US" dirty="0"/>
              <a:t>  Our AI performs full planning loops: observe → plan → execute → re-evaluate.</a:t>
            </a:r>
            <a:br>
              <a:rPr lang="en-US" dirty="0"/>
            </a:br>
            <a:r>
              <a:rPr lang="en-US" dirty="0"/>
              <a:t>  VS mode acts as a simple multi-agent environment (player vs AI).</a:t>
            </a:r>
          </a:p>
          <a:p>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46467249-D22C-4BB2-BDC4-520B05911A79}"/>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3717409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E44A-E3EC-9197-1884-D86BE771EE3C}"/>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F302158D-A762-577F-B029-6E5110DB0C72}"/>
              </a:ext>
            </a:extLst>
          </p:cNvPr>
          <p:cNvSpPr>
            <a:spLocks noGrp="1"/>
          </p:cNvSpPr>
          <p:nvPr>
            <p:ph idx="1"/>
          </p:nvPr>
        </p:nvSpPr>
        <p:spPr/>
        <p:txBody>
          <a:bodyPr vert="horz" lIns="91440" tIns="45720" rIns="91440" bIns="45720" rtlCol="0" anchor="t">
            <a:normAutofit/>
          </a:bodyPr>
          <a:lstStyle/>
          <a:p>
            <a:r>
              <a:rPr lang="en-US" dirty="0">
                <a:ea typeface="+mn-lt"/>
                <a:cs typeface="+mn-lt"/>
              </a:rPr>
              <a:t>We first designed the core physics in C: gravity, drag, spin, bounce, and terrain-based rolling.</a:t>
            </a:r>
            <a:endParaRPr lang="en-US" dirty="0"/>
          </a:p>
          <a:p>
            <a:r>
              <a:rPr lang="en-US" dirty="0">
                <a:ea typeface="+mn-lt"/>
                <a:cs typeface="+mn-lt"/>
              </a:rPr>
              <a:t>Then we added pixel-based terrain detection so the map image directly controls physics behavior.</a:t>
            </a:r>
            <a:endParaRPr lang="en-US" dirty="0"/>
          </a:p>
          <a:p>
            <a:r>
              <a:rPr lang="en-US" dirty="0">
                <a:ea typeface="+mn-lt"/>
                <a:cs typeface="+mn-lt"/>
              </a:rPr>
              <a:t>After that, we built the game loop in </a:t>
            </a:r>
            <a:r>
              <a:rPr lang="en-US" dirty="0" err="1">
                <a:ea typeface="+mn-lt"/>
                <a:cs typeface="+mn-lt"/>
              </a:rPr>
              <a:t>Raylib</a:t>
            </a:r>
            <a:r>
              <a:rPr lang="en-US" dirty="0">
                <a:ea typeface="+mn-lt"/>
                <a:cs typeface="+mn-lt"/>
              </a:rPr>
              <a:t> for rendering, controls, and ball interactions.</a:t>
            </a:r>
            <a:endParaRPr lang="en-US" dirty="0"/>
          </a:p>
          <a:p>
            <a:r>
              <a:rPr lang="en-US" dirty="0">
                <a:ea typeface="+mn-lt"/>
                <a:cs typeface="+mn-lt"/>
              </a:rPr>
              <a:t>We created a Python AI that reads the live game state (ball, wind, terrain) and plans the next </a:t>
            </a:r>
            <a:r>
              <a:rPr lang="en-US" dirty="0" err="1">
                <a:ea typeface="+mn-lt"/>
                <a:cs typeface="+mn-lt"/>
              </a:rPr>
              <a:t>sh</a:t>
            </a:r>
            <a:endParaRPr lang="en-US" dirty="0" err="1"/>
          </a:p>
          <a:p>
            <a:endParaRPr lang="en-US" dirty="0"/>
          </a:p>
        </p:txBody>
      </p:sp>
      <p:pic>
        <p:nvPicPr>
          <p:cNvPr id="5" name="Picture 4" descr="Amrita Vishwa Vidyapeetham Logo PNG Vector">
            <a:extLst>
              <a:ext uri="{FF2B5EF4-FFF2-40B4-BE49-F238E27FC236}">
                <a16:creationId xmlns:a16="http://schemas.microsoft.com/office/drawing/2014/main" id="{95C95C05-51EF-3739-B66B-29D447EE697E}"/>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1215393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07438-DD68-3C68-8C33-E4C2433E2D43}"/>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03C76D5C-23ED-7B72-8468-7CF3FF2604E1}"/>
              </a:ext>
            </a:extLst>
          </p:cNvPr>
          <p:cNvSpPr>
            <a:spLocks noGrp="1"/>
          </p:cNvSpPr>
          <p:nvPr>
            <p:ph idx="1"/>
          </p:nvPr>
        </p:nvSpPr>
        <p:spPr/>
        <p:txBody>
          <a:bodyPr vert="horz" lIns="91440" tIns="45720" rIns="91440" bIns="45720" rtlCol="0" anchor="t">
            <a:normAutofit/>
          </a:bodyPr>
          <a:lstStyle/>
          <a:p>
            <a:r>
              <a:rPr lang="en-US" dirty="0">
                <a:ea typeface="+mn-lt"/>
                <a:cs typeface="+mn-lt"/>
              </a:rPr>
              <a:t>The AI uses a high-level planner to choose a target and a low-level optimizer to fine-tune angle, direction, and power.</a:t>
            </a:r>
            <a:endParaRPr lang="en-US" dirty="0"/>
          </a:p>
          <a:p>
            <a:r>
              <a:rPr lang="en-US" dirty="0">
                <a:ea typeface="+mn-lt"/>
                <a:cs typeface="+mn-lt"/>
              </a:rPr>
              <a:t>C and Python communicate through simple IPC (named pipes on Linux), sending structs back and forth every turn.</a:t>
            </a:r>
            <a:endParaRPr lang="en-US" dirty="0"/>
          </a:p>
          <a:p>
            <a:r>
              <a:rPr lang="en-US" dirty="0">
                <a:ea typeface="+mn-lt"/>
                <a:cs typeface="+mn-lt"/>
              </a:rPr>
              <a:t>Finally, we integrated VS mode where the human and AI take alternate turns using the same physics engine.</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57BA713F-1052-16E2-A256-AE582B1D1FCC}"/>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2636061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13429-08C1-50D7-9BCC-DF81A1C6A04D}"/>
              </a:ext>
            </a:extLst>
          </p:cNvPr>
          <p:cNvSpPr>
            <a:spLocks noGrp="1"/>
          </p:cNvSpPr>
          <p:nvPr>
            <p:ph type="title"/>
          </p:nvPr>
        </p:nvSpPr>
        <p:spPr/>
        <p:txBody>
          <a:bodyPr/>
          <a:lstStyle/>
          <a:p>
            <a:r>
              <a:rPr lang="en-US" dirty="0"/>
              <a:t>RESULTS VIDEO DEMONSTRATION</a:t>
            </a:r>
          </a:p>
        </p:txBody>
      </p:sp>
      <p:sp>
        <p:nvSpPr>
          <p:cNvPr id="3" name="Content Placeholder 2">
            <a:extLst>
              <a:ext uri="{FF2B5EF4-FFF2-40B4-BE49-F238E27FC236}">
                <a16:creationId xmlns:a16="http://schemas.microsoft.com/office/drawing/2014/main" id="{9C3612FD-23C1-47B0-26D4-37751A2D9197}"/>
              </a:ext>
            </a:extLst>
          </p:cNvPr>
          <p:cNvSpPr>
            <a:spLocks noGrp="1"/>
          </p:cNvSpPr>
          <p:nvPr>
            <p:ph idx="1"/>
          </p:nvPr>
        </p:nvSpPr>
        <p:spPr/>
        <p:txBody>
          <a:bodyPr/>
          <a:lstStyle/>
          <a:p>
            <a:endParaRPr lang="en-US"/>
          </a:p>
        </p:txBody>
      </p:sp>
      <p:pic>
        <p:nvPicPr>
          <p:cNvPr id="5" name="Project_Golfero">
            <a:hlinkClick r:id="" action="ppaction://media"/>
            <a:extLst>
              <a:ext uri="{FF2B5EF4-FFF2-40B4-BE49-F238E27FC236}">
                <a16:creationId xmlns:a16="http://schemas.microsoft.com/office/drawing/2014/main" id="{CDD6F62A-C1CA-A757-D387-FC77D8970A3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367159" y="1370744"/>
            <a:ext cx="5851525" cy="5486400"/>
          </a:xfrm>
          <a:prstGeom prst="rect">
            <a:avLst/>
          </a:prstGeom>
        </p:spPr>
      </p:pic>
      <p:pic>
        <p:nvPicPr>
          <p:cNvPr id="7" name="Picture 6" descr="Amrita Vishwa Vidyapeetham Logo PNG Vector">
            <a:extLst>
              <a:ext uri="{FF2B5EF4-FFF2-40B4-BE49-F238E27FC236}">
                <a16:creationId xmlns:a16="http://schemas.microsoft.com/office/drawing/2014/main" id="{9C0499F8-9B78-FD5D-1AD6-9540606C6E9B}"/>
              </a:ext>
            </a:extLst>
          </p:cNvPr>
          <p:cNvPicPr>
            <a:picLocks noChangeAspect="1"/>
          </p:cNvPicPr>
          <p:nvPr/>
        </p:nvPicPr>
        <p:blipFill>
          <a:blip r:embed="rId5"/>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422463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AB74-7E9C-8A51-8E62-46F735DCD84F}"/>
              </a:ext>
            </a:extLst>
          </p:cNvPr>
          <p:cNvSpPr>
            <a:spLocks noGrp="1"/>
          </p:cNvSpPr>
          <p:nvPr>
            <p:ph type="title"/>
          </p:nvPr>
        </p:nvSpPr>
        <p:spPr/>
        <p:txBody>
          <a:bodyPr/>
          <a:lstStyle/>
          <a:p>
            <a:endParaRPr lang="en-US"/>
          </a:p>
        </p:txBody>
      </p:sp>
      <p:pic>
        <p:nvPicPr>
          <p:cNvPr id="4" name="Content Placeholder 3" descr="A screenshot of a video game&#10;&#10;AI-generated content may be incorrect.">
            <a:extLst>
              <a:ext uri="{FF2B5EF4-FFF2-40B4-BE49-F238E27FC236}">
                <a16:creationId xmlns:a16="http://schemas.microsoft.com/office/drawing/2014/main" id="{8E909937-1A72-F183-03B2-E411B21EC1AE}"/>
              </a:ext>
            </a:extLst>
          </p:cNvPr>
          <p:cNvPicPr>
            <a:picLocks noGrp="1" noChangeAspect="1"/>
          </p:cNvPicPr>
          <p:nvPr>
            <p:ph idx="1"/>
          </p:nvPr>
        </p:nvPicPr>
        <p:blipFill>
          <a:blip r:embed="rId2"/>
          <a:stretch>
            <a:fillRect/>
          </a:stretch>
        </p:blipFill>
        <p:spPr>
          <a:xfrm>
            <a:off x="839998" y="361558"/>
            <a:ext cx="4159367" cy="4351338"/>
          </a:xfrm>
          <a:prstGeom prst="rect">
            <a:avLst/>
          </a:prstGeom>
        </p:spPr>
      </p:pic>
      <p:pic>
        <p:nvPicPr>
          <p:cNvPr id="5" name="Picture 4" descr="A screenshot of a video game&#10;&#10;AI-generated content may be incorrect.">
            <a:extLst>
              <a:ext uri="{FF2B5EF4-FFF2-40B4-BE49-F238E27FC236}">
                <a16:creationId xmlns:a16="http://schemas.microsoft.com/office/drawing/2014/main" id="{67C67169-F30D-C499-CBFB-3F2CB2FFFEB5}"/>
              </a:ext>
            </a:extLst>
          </p:cNvPr>
          <p:cNvPicPr>
            <a:picLocks noChangeAspect="1"/>
          </p:cNvPicPr>
          <p:nvPr/>
        </p:nvPicPr>
        <p:blipFill>
          <a:blip r:embed="rId3"/>
          <a:stretch>
            <a:fillRect/>
          </a:stretch>
        </p:blipFill>
        <p:spPr>
          <a:xfrm>
            <a:off x="5884400" y="190500"/>
            <a:ext cx="6191250" cy="6477000"/>
          </a:xfrm>
          <a:prstGeom prst="rect">
            <a:avLst/>
          </a:prstGeom>
        </p:spPr>
      </p:pic>
      <p:pic>
        <p:nvPicPr>
          <p:cNvPr id="7" name="Picture 6" descr="Amrita Vishwa Vidyapeetham Logo PNG Vector">
            <a:extLst>
              <a:ext uri="{FF2B5EF4-FFF2-40B4-BE49-F238E27FC236}">
                <a16:creationId xmlns:a16="http://schemas.microsoft.com/office/drawing/2014/main" id="{C6BDC8D2-4963-558B-CE76-75C7704EFD45}"/>
              </a:ext>
            </a:extLst>
          </p:cNvPr>
          <p:cNvPicPr>
            <a:picLocks noChangeAspect="1"/>
          </p:cNvPicPr>
          <p:nvPr/>
        </p:nvPicPr>
        <p:blipFill>
          <a:blip r:embed="rId4"/>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951299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5297-FDF7-1162-51EE-56D6B3E7866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8D979A0-B84D-0B7E-77B5-882F4D72BF38}"/>
              </a:ext>
            </a:extLst>
          </p:cNvPr>
          <p:cNvSpPr>
            <a:spLocks noGrp="1"/>
          </p:cNvSpPr>
          <p:nvPr>
            <p:ph idx="1"/>
          </p:nvPr>
        </p:nvSpPr>
        <p:spPr/>
        <p:txBody>
          <a:bodyPr vert="horz" lIns="91440" tIns="45720" rIns="91440" bIns="45720" rtlCol="0" anchor="t">
            <a:normAutofit/>
          </a:bodyPr>
          <a:lstStyle/>
          <a:p>
            <a:pPr marL="0" indent="0">
              <a:buNone/>
            </a:pPr>
            <a:r>
              <a:rPr lang="en-US" dirty="0"/>
              <a:t>TO CONCLUDE WE HAVE SUCCESFULLY DEMONSTRATED THE USE OF PLANNING AND LOW LEVEL GRID SEARCH IN THIS MODELED VERSION OF GOLF WE MADE WITH C.</a:t>
            </a:r>
            <a:br>
              <a:rPr lang="en-US" dirty="0"/>
            </a:br>
            <a:br>
              <a:rPr lang="en-US" dirty="0"/>
            </a:br>
            <a:r>
              <a:rPr lang="en-US" dirty="0"/>
              <a:t>WE HAD OUR SETBACKS THIS CAN'T BE PLAYED ON WINDOWS AND MAC DUE TO COMPATIBILTY ISSUES</a:t>
            </a:r>
          </a:p>
          <a:p>
            <a:pPr marL="0" indent="0">
              <a:buNone/>
            </a:pPr>
            <a:endParaRPr lang="en-US" dirty="0"/>
          </a:p>
          <a:p>
            <a:pPr marL="0" indent="0">
              <a:buNone/>
            </a:pPr>
            <a:r>
              <a:rPr lang="en-US" dirty="0"/>
              <a:t>WE TRIED TO MAKE IT COMPATIBLE BUT IT DIDN'T WORK AS WE INTENDED.</a:t>
            </a:r>
          </a:p>
        </p:txBody>
      </p:sp>
      <p:pic>
        <p:nvPicPr>
          <p:cNvPr id="5" name="Picture 4" descr="Amrita Vishwa Vidyapeetham Logo PNG Vector">
            <a:extLst>
              <a:ext uri="{FF2B5EF4-FFF2-40B4-BE49-F238E27FC236}">
                <a16:creationId xmlns:a16="http://schemas.microsoft.com/office/drawing/2014/main" id="{D7041EBB-01C9-FCE5-0957-9E6BEFE86223}"/>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3654037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D01F-C58B-EF0C-B11D-ADD3BF844719}"/>
              </a:ext>
            </a:extLst>
          </p:cNvPr>
          <p:cNvSpPr>
            <a:spLocks noGrp="1"/>
          </p:cNvSpPr>
          <p:nvPr>
            <p:ph type="title"/>
          </p:nvPr>
        </p:nvSpPr>
        <p:spPr/>
        <p:txBody>
          <a:bodyPr/>
          <a:lstStyle/>
          <a:p>
            <a:r>
              <a:rPr lang="en-US" dirty="0"/>
              <a:t>FUTURE WORK PROJECT GOLFERO v2.0</a:t>
            </a:r>
          </a:p>
        </p:txBody>
      </p:sp>
      <p:sp>
        <p:nvSpPr>
          <p:cNvPr id="3" name="Content Placeholder 2">
            <a:extLst>
              <a:ext uri="{FF2B5EF4-FFF2-40B4-BE49-F238E27FC236}">
                <a16:creationId xmlns:a16="http://schemas.microsoft.com/office/drawing/2014/main" id="{5B36E741-D27A-488D-91D8-450E110F0CDD}"/>
              </a:ext>
            </a:extLst>
          </p:cNvPr>
          <p:cNvSpPr>
            <a:spLocks noGrp="1"/>
          </p:cNvSpPr>
          <p:nvPr>
            <p:ph idx="1"/>
          </p:nvPr>
        </p:nvSpPr>
        <p:spPr/>
        <p:txBody>
          <a:bodyPr vert="horz" lIns="91440" tIns="45720" rIns="91440" bIns="45720" rtlCol="0" anchor="t">
            <a:normAutofit/>
          </a:bodyPr>
          <a:lstStyle/>
          <a:p>
            <a:r>
              <a:rPr lang="en-US" dirty="0">
                <a:ea typeface="+mn-lt"/>
                <a:cs typeface="+mn-lt"/>
              </a:rPr>
              <a:t>Add proper sound effects so the ball doesn’t feel silent — like bounce sounds, sand thuds, wind noise, basically anything that makes it feel alive.</a:t>
            </a:r>
            <a:endParaRPr lang="en-US" dirty="0"/>
          </a:p>
          <a:p>
            <a:r>
              <a:rPr lang="en-US" dirty="0">
                <a:ea typeface="+mn-lt"/>
                <a:cs typeface="+mn-lt"/>
              </a:rPr>
              <a:t>Put in some basic animations… right now everything just “appears,” so adding swing animations, ball trails, or tiny dust clouds would make it way nicer.</a:t>
            </a:r>
            <a:endParaRPr lang="en-US" dirty="0"/>
          </a:p>
          <a:p>
            <a:r>
              <a:rPr lang="en-US" dirty="0">
                <a:ea typeface="+mn-lt"/>
                <a:cs typeface="+mn-lt"/>
              </a:rPr>
              <a:t>Improve the AI so it doesn’t shoot like it’s guessing half the time.</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3077EB91-88C6-C1E7-2073-2BA11ED5B902}"/>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826727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F80D-65FA-FDB6-0679-5C5373A9FD9A}"/>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90C37127-68A5-41DF-F927-AD09218F6735}"/>
              </a:ext>
            </a:extLst>
          </p:cNvPr>
          <p:cNvSpPr>
            <a:spLocks noGrp="1"/>
          </p:cNvSpPr>
          <p:nvPr>
            <p:ph idx="1"/>
          </p:nvPr>
        </p:nvSpPr>
        <p:spPr/>
        <p:txBody>
          <a:bodyPr vert="horz" lIns="91440" tIns="45720" rIns="91440" bIns="45720" rtlCol="0" anchor="t">
            <a:normAutofit/>
          </a:bodyPr>
          <a:lstStyle/>
          <a:p>
            <a:r>
              <a:rPr lang="en-US" sz="2600" dirty="0"/>
              <a:t>Add slopes and more detailed terrain instead of our flat map (the ball deserves gravity that works in 3D).</a:t>
            </a:r>
          </a:p>
          <a:p>
            <a:r>
              <a:rPr lang="en-US" sz="2600" dirty="0"/>
              <a:t>Maybe generate random golf levels because drawing maps manually is pain.</a:t>
            </a:r>
          </a:p>
          <a:p>
            <a:r>
              <a:rPr lang="en-US" sz="2600" dirty="0"/>
              <a:t>Faster communication between Python and C so shots happen instantly and not after a mini nap.</a:t>
            </a:r>
          </a:p>
          <a:p>
            <a:endParaRPr lang="en-US" dirty="0"/>
          </a:p>
        </p:txBody>
      </p:sp>
      <p:pic>
        <p:nvPicPr>
          <p:cNvPr id="5" name="Picture 4" descr="Amrita Vishwa Vidyapeetham Logo PNG Vector">
            <a:extLst>
              <a:ext uri="{FF2B5EF4-FFF2-40B4-BE49-F238E27FC236}">
                <a16:creationId xmlns:a16="http://schemas.microsoft.com/office/drawing/2014/main" id="{768EE547-A094-2110-2BC3-0EE7436BAF0D}"/>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1092894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D852-5FB8-6F5F-4BC4-53ABA794D91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8E3452E-A170-57B4-51E5-4149A62345C3}"/>
              </a:ext>
            </a:extLst>
          </p:cNvPr>
          <p:cNvSpPr>
            <a:spLocks noGrp="1"/>
          </p:cNvSpPr>
          <p:nvPr>
            <p:ph idx="1"/>
          </p:nvPr>
        </p:nvSpPr>
        <p:spPr/>
        <p:txBody>
          <a:bodyPr vert="horz" lIns="91440" tIns="45720" rIns="91440" bIns="45720" rtlCol="0" anchor="t">
            <a:normAutofit fontScale="55000" lnSpcReduction="20000"/>
          </a:bodyPr>
          <a:lstStyle/>
          <a:p>
            <a:r>
              <a:rPr lang="en-US" b="1" dirty="0">
                <a:ea typeface="+mn-lt"/>
                <a:cs typeface="+mn-lt"/>
              </a:rPr>
              <a:t>1]</a:t>
            </a:r>
            <a:r>
              <a:rPr lang="en-US" dirty="0">
                <a:ea typeface="+mn-lt"/>
                <a:cs typeface="+mn-lt"/>
              </a:rPr>
              <a:t> </a:t>
            </a:r>
            <a:r>
              <a:rPr lang="en-US" dirty="0" err="1">
                <a:ea typeface="+mn-lt"/>
                <a:cs typeface="+mn-lt"/>
              </a:rPr>
              <a:t>Baraff</a:t>
            </a:r>
            <a:r>
              <a:rPr lang="en-US" dirty="0">
                <a:ea typeface="+mn-lt"/>
                <a:cs typeface="+mn-lt"/>
              </a:rPr>
              <a:t>, D., &amp; Witkin, A. (1997). </a:t>
            </a:r>
            <a:r>
              <a:rPr lang="en-US" i="1" dirty="0">
                <a:ea typeface="+mn-lt"/>
                <a:cs typeface="+mn-lt"/>
              </a:rPr>
              <a:t>Physically Based Modeling.</a:t>
            </a:r>
            <a:r>
              <a:rPr lang="en-US" dirty="0">
                <a:ea typeface="+mn-lt"/>
                <a:cs typeface="+mn-lt"/>
              </a:rPr>
              <a:t> SIGGRAPH Course Notes.</a:t>
            </a:r>
            <a:endParaRPr lang="en-US" dirty="0"/>
          </a:p>
          <a:p>
            <a:r>
              <a:rPr lang="en-US" b="1" dirty="0">
                <a:ea typeface="+mn-lt"/>
                <a:cs typeface="+mn-lt"/>
              </a:rPr>
              <a:t>[2]</a:t>
            </a:r>
            <a:r>
              <a:rPr lang="en-US" dirty="0">
                <a:ea typeface="+mn-lt"/>
                <a:cs typeface="+mn-lt"/>
              </a:rPr>
              <a:t> Mehta, R. D. (1985). </a:t>
            </a:r>
            <a:r>
              <a:rPr lang="en-US" i="1" dirty="0">
                <a:ea typeface="+mn-lt"/>
                <a:cs typeface="+mn-lt"/>
              </a:rPr>
              <a:t>Aerodynamics of Sports Balls.</a:t>
            </a:r>
            <a:r>
              <a:rPr lang="en-US" dirty="0">
                <a:ea typeface="+mn-lt"/>
                <a:cs typeface="+mn-lt"/>
              </a:rPr>
              <a:t> Annual Review of Fluid Mechanics, 17(1), 151–189.</a:t>
            </a:r>
            <a:endParaRPr lang="en-US" dirty="0"/>
          </a:p>
          <a:p>
            <a:r>
              <a:rPr lang="en-US" b="1" dirty="0">
                <a:ea typeface="+mn-lt"/>
                <a:cs typeface="+mn-lt"/>
              </a:rPr>
              <a:t>[3]</a:t>
            </a:r>
            <a:r>
              <a:rPr lang="en-US" dirty="0">
                <a:ea typeface="+mn-lt"/>
                <a:cs typeface="+mn-lt"/>
              </a:rPr>
              <a:t> Cross, R. (2011). </a:t>
            </a:r>
            <a:r>
              <a:rPr lang="en-US" i="1" dirty="0">
                <a:ea typeface="+mn-lt"/>
                <a:cs typeface="+mn-lt"/>
              </a:rPr>
              <a:t>Physics of Ball Sports.</a:t>
            </a:r>
            <a:r>
              <a:rPr lang="en-US" dirty="0">
                <a:ea typeface="+mn-lt"/>
                <a:cs typeface="+mn-lt"/>
              </a:rPr>
              <a:t> Reports on Progress in Physics, 74(2), 026601.</a:t>
            </a:r>
            <a:endParaRPr lang="en-US" dirty="0"/>
          </a:p>
          <a:p>
            <a:r>
              <a:rPr lang="en-US" b="1" dirty="0">
                <a:ea typeface="+mn-lt"/>
                <a:cs typeface="+mn-lt"/>
              </a:rPr>
              <a:t>[4]</a:t>
            </a:r>
            <a:r>
              <a:rPr lang="en-US" dirty="0">
                <a:ea typeface="+mn-lt"/>
                <a:cs typeface="+mn-lt"/>
              </a:rPr>
              <a:t> Levin, A., </a:t>
            </a:r>
            <a:r>
              <a:rPr lang="en-US" dirty="0" err="1">
                <a:ea typeface="+mn-lt"/>
                <a:cs typeface="+mn-lt"/>
              </a:rPr>
              <a:t>Lischinski</a:t>
            </a:r>
            <a:r>
              <a:rPr lang="en-US" dirty="0">
                <a:ea typeface="+mn-lt"/>
                <a:cs typeface="+mn-lt"/>
              </a:rPr>
              <a:t>, D., &amp; Weiss, Y. (2008). </a:t>
            </a:r>
            <a:r>
              <a:rPr lang="en-US" i="1" dirty="0">
                <a:ea typeface="+mn-lt"/>
                <a:cs typeface="+mn-lt"/>
              </a:rPr>
              <a:t>A Closed-Form Solution to Natural Image Matting.</a:t>
            </a:r>
            <a:r>
              <a:rPr lang="en-US" dirty="0">
                <a:ea typeface="+mn-lt"/>
                <a:cs typeface="+mn-lt"/>
              </a:rPr>
              <a:t> IEEE Transactions on Pattern Analysis and Machine Intelligence, 30(2), 228–242.</a:t>
            </a:r>
            <a:br>
              <a:rPr lang="en-US" dirty="0">
                <a:ea typeface="+mn-lt"/>
                <a:cs typeface="+mn-lt"/>
              </a:rPr>
            </a:br>
            <a:r>
              <a:rPr lang="en-US" dirty="0">
                <a:ea typeface="+mn-lt"/>
                <a:cs typeface="+mn-lt"/>
              </a:rPr>
              <a:t> (Note: Cited for image-based terrain segmentation approaches.)</a:t>
            </a:r>
            <a:endParaRPr lang="en-US" dirty="0"/>
          </a:p>
          <a:p>
            <a:r>
              <a:rPr lang="en-US" b="1" dirty="0">
                <a:ea typeface="+mn-lt"/>
                <a:cs typeface="+mn-lt"/>
              </a:rPr>
              <a:t>[5]</a:t>
            </a:r>
            <a:r>
              <a:rPr lang="en-US" dirty="0">
                <a:ea typeface="+mn-lt"/>
                <a:cs typeface="+mn-lt"/>
              </a:rPr>
              <a:t> LaValle, S. M. (2006). </a:t>
            </a:r>
            <a:r>
              <a:rPr lang="en-US" i="1" dirty="0">
                <a:ea typeface="+mn-lt"/>
                <a:cs typeface="+mn-lt"/>
              </a:rPr>
              <a:t>Planning Algorithms.</a:t>
            </a:r>
            <a:r>
              <a:rPr lang="en-US" dirty="0">
                <a:ea typeface="+mn-lt"/>
                <a:cs typeface="+mn-lt"/>
              </a:rPr>
              <a:t> Cambridge University Press.</a:t>
            </a:r>
            <a:br>
              <a:rPr lang="en-US" dirty="0">
                <a:ea typeface="+mn-lt"/>
                <a:cs typeface="+mn-lt"/>
              </a:rPr>
            </a:br>
            <a:r>
              <a:rPr lang="en-US" dirty="0">
                <a:ea typeface="+mn-lt"/>
                <a:cs typeface="+mn-lt"/>
              </a:rPr>
              <a:t> (Free online official edition.)</a:t>
            </a:r>
            <a:endParaRPr lang="en-US" dirty="0"/>
          </a:p>
          <a:p>
            <a:r>
              <a:rPr lang="en-US" b="1" dirty="0">
                <a:ea typeface="+mn-lt"/>
                <a:cs typeface="+mn-lt"/>
              </a:rPr>
              <a:t>[6]</a:t>
            </a:r>
            <a:r>
              <a:rPr lang="en-US" dirty="0">
                <a:ea typeface="+mn-lt"/>
                <a:cs typeface="+mn-lt"/>
              </a:rPr>
              <a:t> Hansen, N., &amp; Ostermeier, A. (2001). </a:t>
            </a:r>
            <a:r>
              <a:rPr lang="en-US" i="1" dirty="0">
                <a:ea typeface="+mn-lt"/>
                <a:cs typeface="+mn-lt"/>
              </a:rPr>
              <a:t>Completely Derandomized Self-Adaptation in Evolution Strategies.</a:t>
            </a:r>
            <a:r>
              <a:rPr lang="en-US" dirty="0">
                <a:ea typeface="+mn-lt"/>
                <a:cs typeface="+mn-lt"/>
              </a:rPr>
              <a:t> Evolutionary Computation, 9(2), 159–195.</a:t>
            </a:r>
            <a:endParaRPr lang="en-US" dirty="0"/>
          </a:p>
          <a:p>
            <a:r>
              <a:rPr lang="en-US" b="1" dirty="0">
                <a:ea typeface="+mn-lt"/>
                <a:cs typeface="+mn-lt"/>
              </a:rPr>
              <a:t>[7]</a:t>
            </a:r>
            <a:r>
              <a:rPr lang="en-US" dirty="0">
                <a:ea typeface="+mn-lt"/>
                <a:cs typeface="+mn-lt"/>
              </a:rPr>
              <a:t> Russell, S., &amp; Norvig, P. (2009). </a:t>
            </a:r>
            <a:r>
              <a:rPr lang="en-US" i="1" dirty="0">
                <a:ea typeface="+mn-lt"/>
                <a:cs typeface="+mn-lt"/>
              </a:rPr>
              <a:t>Artificial Intelligence: A Modern Approach.</a:t>
            </a:r>
            <a:r>
              <a:rPr lang="en-US" dirty="0">
                <a:ea typeface="+mn-lt"/>
                <a:cs typeface="+mn-lt"/>
              </a:rPr>
              <a:t> Prentice Hall.</a:t>
            </a:r>
            <a:endParaRPr lang="en-US" dirty="0"/>
          </a:p>
          <a:p>
            <a:r>
              <a:rPr lang="en-US" b="1" dirty="0">
                <a:ea typeface="+mn-lt"/>
                <a:cs typeface="+mn-lt"/>
              </a:rPr>
              <a:t>[8]</a:t>
            </a:r>
            <a:r>
              <a:rPr lang="en-US" dirty="0">
                <a:ea typeface="+mn-lt"/>
                <a:cs typeface="+mn-lt"/>
              </a:rPr>
              <a:t> Tanenbaum, A. S., &amp; Bos, H. (2015). </a:t>
            </a:r>
            <a:r>
              <a:rPr lang="en-US" i="1" dirty="0">
                <a:ea typeface="+mn-lt"/>
                <a:cs typeface="+mn-lt"/>
              </a:rPr>
              <a:t>Modern Operating Systems (4th Edition).</a:t>
            </a:r>
            <a:r>
              <a:rPr lang="en-US" dirty="0">
                <a:ea typeface="+mn-lt"/>
                <a:cs typeface="+mn-lt"/>
              </a:rPr>
              <a:t> Pearson Education.</a:t>
            </a:r>
            <a:endParaRPr lang="en-US" dirty="0"/>
          </a:p>
          <a:p>
            <a:r>
              <a:rPr lang="en-US" b="1" dirty="0">
                <a:ea typeface="+mn-lt"/>
                <a:cs typeface="+mn-lt"/>
              </a:rPr>
              <a:t>[9]</a:t>
            </a:r>
            <a:r>
              <a:rPr lang="en-US" dirty="0">
                <a:ea typeface="+mn-lt"/>
                <a:cs typeface="+mn-lt"/>
              </a:rPr>
              <a:t> Reynolds, C. W. (1999). </a:t>
            </a:r>
            <a:r>
              <a:rPr lang="en-US" i="1" dirty="0">
                <a:ea typeface="+mn-lt"/>
                <a:cs typeface="+mn-lt"/>
              </a:rPr>
              <a:t>Steering Behaviors for Autonomous Characters.</a:t>
            </a:r>
            <a:r>
              <a:rPr lang="en-US" dirty="0">
                <a:ea typeface="+mn-lt"/>
                <a:cs typeface="+mn-lt"/>
              </a:rPr>
              <a:t> In Proceedings of the Game Developers Conference.</a:t>
            </a:r>
            <a:endParaRPr lang="en-US" dirty="0"/>
          </a:p>
          <a:p>
            <a:r>
              <a:rPr lang="en-US" b="1" dirty="0">
                <a:ea typeface="+mn-lt"/>
                <a:cs typeface="+mn-lt"/>
              </a:rPr>
              <a:t>[10]</a:t>
            </a:r>
            <a:r>
              <a:rPr lang="en-US" dirty="0">
                <a:ea typeface="+mn-lt"/>
                <a:cs typeface="+mn-lt"/>
              </a:rPr>
              <a:t> Hecker, C. (1996). </a:t>
            </a:r>
            <a:r>
              <a:rPr lang="en-US" i="1" dirty="0">
                <a:ea typeface="+mn-lt"/>
                <a:cs typeface="+mn-lt"/>
              </a:rPr>
              <a:t>Behind the Screen: Physics for Game Developers.</a:t>
            </a:r>
            <a:r>
              <a:rPr lang="en-US" dirty="0">
                <a:ea typeface="+mn-lt"/>
                <a:cs typeface="+mn-lt"/>
              </a:rPr>
              <a:t> Game Developer Magazine.</a:t>
            </a:r>
            <a:endParaRPr lang="en-US" dirty="0"/>
          </a:p>
          <a:p>
            <a:r>
              <a:rPr lang="en-US" b="1" dirty="0">
                <a:ea typeface="+mn-lt"/>
                <a:cs typeface="+mn-lt"/>
              </a:rPr>
              <a:t>[11]</a:t>
            </a:r>
            <a:r>
              <a:rPr lang="en-US" dirty="0">
                <a:ea typeface="+mn-lt"/>
                <a:cs typeface="+mn-lt"/>
              </a:rPr>
              <a:t> Sutton, R. S., &amp; Barto, A. G. (2018). </a:t>
            </a:r>
            <a:r>
              <a:rPr lang="en-US" i="1" dirty="0">
                <a:ea typeface="+mn-lt"/>
                <a:cs typeface="+mn-lt"/>
              </a:rPr>
              <a:t>Reinforcement Learning: An Introduction (2nd Edition).</a:t>
            </a:r>
            <a:r>
              <a:rPr lang="en-US" dirty="0">
                <a:ea typeface="+mn-lt"/>
                <a:cs typeface="+mn-lt"/>
              </a:rPr>
              <a:t> MIT Press.</a:t>
            </a:r>
            <a:endParaRPr lang="en-US" dirty="0"/>
          </a:p>
          <a:p>
            <a:r>
              <a:rPr lang="en-US" b="1" dirty="0">
                <a:ea typeface="+mn-lt"/>
                <a:cs typeface="+mn-lt"/>
              </a:rPr>
              <a:t>[12]</a:t>
            </a:r>
            <a:r>
              <a:rPr lang="en-US" dirty="0">
                <a:ea typeface="+mn-lt"/>
                <a:cs typeface="+mn-lt"/>
              </a:rPr>
              <a:t> Parker, K. (2012). </a:t>
            </a:r>
            <a:r>
              <a:rPr lang="en-US" i="1" dirty="0">
                <a:ea typeface="+mn-lt"/>
                <a:cs typeface="+mn-lt"/>
              </a:rPr>
              <a:t>A Survey of Inter-Process Communication Mechanisms.</a:t>
            </a:r>
            <a:r>
              <a:rPr lang="en-US" dirty="0">
                <a:ea typeface="+mn-lt"/>
                <a:cs typeface="+mn-lt"/>
              </a:rPr>
              <a:t> ACM Computing Surveys, 44(2), 1–22.</a:t>
            </a:r>
            <a:endParaRPr lang="en-US" dirty="0"/>
          </a:p>
          <a:p>
            <a:endParaRPr lang="en-US" dirty="0"/>
          </a:p>
        </p:txBody>
      </p:sp>
      <p:pic>
        <p:nvPicPr>
          <p:cNvPr id="5" name="Picture 4" descr="Amrita Vishwa Vidyapeetham Logo PNG Vector">
            <a:extLst>
              <a:ext uri="{FF2B5EF4-FFF2-40B4-BE49-F238E27FC236}">
                <a16:creationId xmlns:a16="http://schemas.microsoft.com/office/drawing/2014/main" id="{B897CC34-9F98-04C5-EE2C-8DC2F9F9D12D}"/>
              </a:ext>
            </a:extLst>
          </p:cNvPr>
          <p:cNvPicPr>
            <a:picLocks noChangeAspect="1"/>
          </p:cNvPicPr>
          <p:nvPr/>
        </p:nvPicPr>
        <p:blipFill>
          <a:blip r:embed="rId2"/>
          <a:stretch>
            <a:fillRect/>
          </a:stretch>
        </p:blipFill>
        <p:spPr>
          <a:xfrm>
            <a:off x="11044183" y="-3211"/>
            <a:ext cx="1148352" cy="1384871"/>
          </a:xfrm>
          <a:prstGeom prst="rect">
            <a:avLst/>
          </a:prstGeom>
        </p:spPr>
      </p:pic>
    </p:spTree>
    <p:extLst>
      <p:ext uri="{BB962C8B-B14F-4D97-AF65-F5344CB8AC3E}">
        <p14:creationId xmlns:p14="http://schemas.microsoft.com/office/powerpoint/2010/main" val="2520495565"/>
      </p:ext>
    </p:extLst>
  </p:cSld>
  <p:clrMapOvr>
    <a:masterClrMapping/>
  </p:clrMapOvr>
</p:sld>
</file>

<file path=ppt/theme/theme1.xml><?xml version="1.0" encoding="utf-8"?>
<a:theme xmlns:a="http://schemas.openxmlformats.org/drawingml/2006/main" name="JuxtaposeVTI">
  <a:themeElements>
    <a:clrScheme name="JuxtaposeVTI">
      <a:dk1>
        <a:sysClr val="windowText" lastClr="000000"/>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JuxtaposeVTI">
      <a:majorFont>
        <a:latin typeface="Franklin Gothic Demi Cond" panose="020B0706030402020204"/>
        <a:ea typeface=""/>
        <a:cs typeface=""/>
      </a:majorFont>
      <a:minorFont>
        <a:latin typeface="Franklin Gothic Medium" panose="020B0603020102020204"/>
        <a:ea typeface=""/>
        <a:cs typeface=""/>
      </a:minorFont>
    </a:fontScheme>
    <a:fmtScheme name="Juxtapo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B0236716-CA63-41C1-B6AD-997AE15F064B}" vid="{0E0AE8FC-D493-434E-BDCC-ED5FFB2DAEE7}"/>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JuxtaposeVTI</vt:lpstr>
      <vt:lpstr>PROJECT GOLFERO</vt:lpstr>
      <vt:lpstr>INTRODUCTION</vt:lpstr>
      <vt:lpstr>MOTIVATION</vt:lpstr>
      <vt:lpstr>LITERATURE SERVEY (PHYSICS)</vt:lpstr>
      <vt:lpstr>LITERATURE SURVEY (AI &amp; OPTIMIZATION)</vt:lpstr>
      <vt:lpstr>PROBLEM STATEMENT</vt:lpstr>
      <vt:lpstr>NOVELTY</vt:lpstr>
      <vt:lpstr>CO MAPPING</vt:lpstr>
      <vt:lpstr>CO MAPPING</vt:lpstr>
      <vt:lpstr>METHODOLOGY</vt:lpstr>
      <vt:lpstr>METHODOLOGY</vt:lpstr>
      <vt:lpstr>RESULTS VIDEO DEMONSTRATION</vt:lpstr>
      <vt:lpstr>PowerPoint Presentation</vt:lpstr>
      <vt:lpstr>CONCLUSION</vt:lpstr>
      <vt:lpstr>FUTURE WORK PROJECT GOLFERO v2.0</vt:lpstr>
      <vt:lpstr>FUTURE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160</cp:revision>
  <dcterms:created xsi:type="dcterms:W3CDTF">2025-11-17T17:58:33Z</dcterms:created>
  <dcterms:modified xsi:type="dcterms:W3CDTF">2025-11-17T18:42:52Z</dcterms:modified>
</cp:coreProperties>
</file>